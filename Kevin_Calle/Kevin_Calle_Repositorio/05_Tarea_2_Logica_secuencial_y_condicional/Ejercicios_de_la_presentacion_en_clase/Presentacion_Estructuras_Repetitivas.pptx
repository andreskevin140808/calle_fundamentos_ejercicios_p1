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56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objetivo en voz alta y pide a un estudiante que lo explique con sus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pasa si el acumulador no se inicializa? En Java no compila: variable suma might not have been initialized. El compilador nos protege.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la analogía antes de la definición formal: pregunta al curso qué otros ejemplos de la vida real funcionan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la prueba de escritorio con una tabla nota | suma | contador.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con while: aquí no hace falta la lectura previa.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for es un while compacto: inicio; while(cond){ cuerpo; actualización;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ciclos son equivalentes en poder: cualquier problema se puede resolver con cualquiera, pero uno suele ser más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= 10, 7, 4, 1 → 4 veces. Respuesta: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puestos. Estos ejercicios preparan el Laboratorio 2 de mañana.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salida: recoge las respuestas (papel o aula virtual) y revísalas antes de la próxima clase para decidir qué reforzar.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36208"/>
            <a:ext cx="12191695" cy="32004"/>
          </a:xfrm>
          <a:prstGeom prst="rect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86500"/>
            <a:ext cx="12191695" cy="18288"/>
          </a:xfrm>
          <a:prstGeom prst="rect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</p:sp>
      <p:pic>
        <p:nvPicPr>
          <p:cNvPr id="4" name="Image 0" descr="/home/claude/clases/assets/esp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36792"/>
            <a:ext cx="1252728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64008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B  ·  NRC 37712  ·  Departamento de Ciencias de la Computación</a:t>
            </a:r>
            <a:endParaRPr lang="en-US" sz="10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A4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27432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clases/assets/esp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38328"/>
            <a:ext cx="192024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236208"/>
            <a:ext cx="12191695" cy="32004"/>
          </a:xfrm>
          <a:prstGeom prst="rect">
            <a:avLst/>
          </a:prstGeom>
          <a:solidFill>
            <a:srgbClr val="CFE8D8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286500"/>
            <a:ext cx="12191695" cy="18288"/>
          </a:xfrm>
          <a:prstGeom prst="rect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B  ·  NRC 37712  ·  Departamento de Ciencias de la Computación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ases/assets/es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4480560" cy="1572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0" y="6858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CIENCIAS DE LA COMPUTACIÓN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B  ·  NRC 37712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0" y="2148840"/>
            <a:ext cx="12191695" cy="64008"/>
          </a:xfrm>
          <a:prstGeom prst="rect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2212848"/>
            <a:ext cx="12191695" cy="4645152"/>
          </a:xfrm>
          <a:prstGeom prst="rect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Tema 1.7.3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repetitivas: while, do-while y for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262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Contadores, acumuladores, centinelas y validación de datos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5440680"/>
            <a:ext cx="10972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4008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Mgtr. Esteban Gonzabay Jiménez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28 de octubre de 2026 · 11:00–13:00 · LAB04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640080" y="1482634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8263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417320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la Tarea 2 y dudas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640080" y="2161903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21619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96589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96589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repetir? Contadores y acumuladores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640080" y="2841171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284117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75857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75857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condición al inicio · centinela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55126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455126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do-while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condición al final · validación</a:t>
            </a:r>
            <a:endParaRPr lang="en-US" sz="1600" dirty="0"/>
          </a:p>
        </p:txBody>
      </p:sp>
      <p:sp>
        <p:nvSpPr>
          <p:cNvPr id="19" name="circulo"/>
          <p:cNvSpPr/>
          <p:nvPr/>
        </p:nvSpPr>
        <p:spPr>
          <a:xfrm>
            <a:off x="640080" y="4199709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0080" y="419970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34394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134394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número conocido de repeticiones</a:t>
            </a:r>
            <a:endParaRPr lang="en-US" sz="1600" dirty="0"/>
          </a:p>
        </p:txBody>
      </p:sp>
      <p:sp>
        <p:nvSpPr>
          <p:cNvPr id="23" name="circulo"/>
          <p:cNvSpPr/>
          <p:nvPr/>
        </p:nvSpPr>
        <p:spPr>
          <a:xfrm>
            <a:off x="640080" y="4878977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40080" y="487897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813663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4813663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6 ejercicios de ciclos</a:t>
            </a:r>
            <a:endParaRPr lang="en-US" sz="1600" dirty="0"/>
          </a:p>
        </p:txBody>
      </p:sp>
      <p:sp>
        <p:nvSpPr>
          <p:cNvPr id="27" name="circulo"/>
          <p:cNvSpPr/>
          <p:nvPr/>
        </p:nvSpPr>
        <p:spPr>
          <a:xfrm>
            <a:off x="640080" y="5558246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40080" y="555824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492931"/>
            <a:ext cx="118872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5492931"/>
            <a:ext cx="9052560" cy="679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0" descr="/home/claude/clases/assets/icons/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630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2057400"/>
            <a:ext cx="1645920" cy="1645920"/>
          </a:xfrm>
          <a:prstGeom prst="ellipse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clases/assets/icons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4688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017520" y="164592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contadores, acumuladores, centinelas y validaciones con los tres tipos de ciclo.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85800" y="4709160"/>
            <a:ext cx="731520" cy="73152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/home/claude/clases/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92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46634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sabremos que lo logramos? 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retos y preguntas de la clase y el ticket de salida al final.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/home/claude/clases/assets/icons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que aparecen en casi todo ciclo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5372100" cy="2263140"/>
          </a:xfrm>
          <a:prstGeom prst="roundRect">
            <a:avLst>
              <a:gd name="adj" fmla="val 3232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circulo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08760"/>
            <a:ext cx="4366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9606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que aumenta en una cantidad fija: </a:t>
            </a: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contador++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Cuenta cuántas veces ocurre algo. Se inicializa en 0.</a:t>
            </a:r>
            <a:endParaRPr lang="en-US" sz="1800" dirty="0"/>
          </a:p>
        </p:txBody>
      </p:sp>
      <p:sp>
        <p:nvSpPr>
          <p:cNvPr id="8" name="tarjeta"/>
          <p:cNvSpPr/>
          <p:nvPr/>
        </p:nvSpPr>
        <p:spPr>
          <a:xfrm>
            <a:off x="6240780" y="1371600"/>
            <a:ext cx="5372100" cy="2263140"/>
          </a:xfrm>
          <a:prstGeom prst="roundRect">
            <a:avLst>
              <a:gd name="adj" fmla="val 3232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circulo"/>
          <p:cNvSpPr/>
          <p:nvPr/>
        </p:nvSpPr>
        <p:spPr>
          <a:xfrm>
            <a:off x="6469380" y="1572768"/>
            <a:ext cx="502920" cy="502920"/>
          </a:xfrm>
          <a:prstGeom prst="ellipse">
            <a:avLst/>
          </a:prstGeom>
          <a:solidFill>
            <a:srgbClr val="0A5A31"/>
          </a:solidFill>
          <a:ln w="12700">
            <a:solidFill>
              <a:srgbClr val="0A5A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693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09460" y="1508760"/>
            <a:ext cx="4366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Acumulador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194560"/>
            <a:ext cx="49606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que suma valores variables: </a:t>
            </a: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+= nota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inicializa en 0 (o en 1 si acumula productos).</a:t>
            </a:r>
            <a:endParaRPr lang="en-US" sz="1800" dirty="0"/>
          </a:p>
        </p:txBody>
      </p:sp>
      <p:sp>
        <p:nvSpPr>
          <p:cNvPr id="13" name="tarjeta"/>
          <p:cNvSpPr/>
          <p:nvPr/>
        </p:nvSpPr>
        <p:spPr>
          <a:xfrm>
            <a:off x="548640" y="3909060"/>
            <a:ext cx="5372100" cy="2263140"/>
          </a:xfrm>
          <a:prstGeom prst="roundRect">
            <a:avLst>
              <a:gd name="adj" fmla="val 3232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circulo"/>
          <p:cNvSpPr/>
          <p:nvPr/>
        </p:nvSpPr>
        <p:spPr>
          <a:xfrm>
            <a:off x="777240" y="4110228"/>
            <a:ext cx="502920" cy="50292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77240" y="41102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46220"/>
            <a:ext cx="4366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Centinela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32020"/>
            <a:ext cx="49606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especial que indica el fin de los datos: -1, 0 o «FIN». No debe procesarse como dato.</a:t>
            </a:r>
            <a:endParaRPr lang="en-US" sz="1800" dirty="0"/>
          </a:p>
        </p:txBody>
      </p:sp>
      <p:sp>
        <p:nvSpPr>
          <p:cNvPr id="18" name="tarjeta"/>
          <p:cNvSpPr/>
          <p:nvPr/>
        </p:nvSpPr>
        <p:spPr>
          <a:xfrm>
            <a:off x="6240780" y="3909060"/>
            <a:ext cx="5372100" cy="2263140"/>
          </a:xfrm>
          <a:prstGeom prst="roundRect">
            <a:avLst>
              <a:gd name="adj" fmla="val 3232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circulo"/>
          <p:cNvSpPr/>
          <p:nvPr/>
        </p:nvSpPr>
        <p:spPr>
          <a:xfrm>
            <a:off x="6469380" y="4110228"/>
            <a:ext cx="502920" cy="502920"/>
          </a:xfrm>
          <a:prstGeom prst="ellipse">
            <a:avLst/>
          </a:prstGeom>
          <a:solidFill>
            <a:srgbClr val="0A5A31"/>
          </a:solidFill>
          <a:ln w="12700">
            <a:solidFill>
              <a:srgbClr val="0A5A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69380" y="41102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09460" y="4046220"/>
            <a:ext cx="4366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Bandera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732020"/>
            <a:ext cx="49606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boolean que recuerda si algo pasó: encontrado = true.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 descr="/home/claude/clases/assets/icons/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analogía para entenderlo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377440" cy="23774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clases/assets/icons/stop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231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0" y="1463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783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repetitivas</a:t>
            </a:r>
            <a:endParaRPr lang="en-US" sz="2400" dirty="0"/>
          </a:p>
        </p:txBody>
      </p:sp>
      <p:sp>
        <p:nvSpPr>
          <p:cNvPr id="7" name="tarjeta"/>
          <p:cNvSpPr/>
          <p:nvPr/>
        </p:nvSpPr>
        <p:spPr>
          <a:xfrm>
            <a:off x="3657600" y="2514600"/>
            <a:ext cx="795528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3886200" y="256032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como dar vueltas a una pista de atletismo: con for sabes cuántas vueltas darás; con while corres mientras tengas energía; con do-while das al menos una vuelta antes de decidir.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4343400"/>
          <a:ext cx="795528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39776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analogía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materia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fijo de vueltas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Correr mientras haya energía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una vuelta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las vueltas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c++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Sumar los kilómetros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Acumulador s +=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clases/assets/icons/ana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while: mientras la condición sea verdadera</a:t>
            </a:r>
            <a:endParaRPr lang="en-US" sz="3200" dirty="0"/>
          </a:p>
        </p:txBody>
      </p:sp>
      <p:sp>
        <p:nvSpPr>
          <p:cNvPr id="3" name="codigo_fondo"/>
          <p:cNvSpPr/>
          <p:nvPr/>
        </p:nvSpPr>
        <p:spPr>
          <a:xfrm>
            <a:off x="548640" y="1371600"/>
            <a:ext cx="7315200" cy="4800600"/>
          </a:xfrm>
          <a:prstGeom prst="roundRect">
            <a:avLst>
              <a:gd name="adj" fmla="val 114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583680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731520" y="1508760"/>
            <a:ext cx="69494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Promedio de notas: termina cuando se ingresa -1 (centinela)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java.util.Locale;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E11_WhileCentinela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Locale.setDefault(Locale.US);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Scanner sc = new Scanner(System.in);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suma = 0;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contador = 0;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System.out.print("Nota (-1 para terminar): 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nota = sc.nextDouble();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(nota != -1)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suma += nota;        // acumulador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contador++;          // contador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System.out.print("Nota (-1 para terminar): 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nota = sc.nextDouble();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(contador &gt; 0)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System.out.printf("Promedio de %d notas: %.2f%n",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contador, suma / contador);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System.out.println("No se ingresaron notas");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o"/>
          <p:cNvSpPr txBox="1"/>
          <p:nvPr/>
        </p:nvSpPr>
        <p:spPr>
          <a:xfrm>
            <a:off x="8046720" y="1371600"/>
            <a:ext cx="3611880" cy="27432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la condición </a:t>
            </a: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vuelta: puede ejecutarse 0 veces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previa + lectura al final del cuerpo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dentro del ciclo debe cambiar la condición o será </a:t>
            </a: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4617720"/>
            <a:ext cx="3611880" cy="1554480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13816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(-1 para terminar): 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(-1 para terminar): 9.5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(-1 para terminar):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(-1 para terminar): -1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de 3 notas: 8.17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clases/asset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do-while: al menos una vez</a:t>
            </a:r>
            <a:endParaRPr lang="en-US" sz="3200" dirty="0"/>
          </a:p>
        </p:txBody>
      </p:sp>
      <p:sp>
        <p:nvSpPr>
          <p:cNvPr id="3" name="codigo_fondo"/>
          <p:cNvSpPr/>
          <p:nvPr/>
        </p:nvSpPr>
        <p:spPr>
          <a:xfrm>
            <a:off x="548640" y="1371600"/>
            <a:ext cx="7315200" cy="3230880"/>
          </a:xfrm>
          <a:prstGeom prst="roundRect">
            <a:avLst>
              <a:gd name="adj" fmla="val 169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583680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731520" y="1508760"/>
            <a:ext cx="69494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do-while: el cuerpo se ejecuta al menos una vez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E12_DoWhileValidacion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Scanner sc = new Scanner(System.in);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nota;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System.out.print("Ingrese una nota entre 0 y 20: ");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nota = sc.nextInt();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(nota &lt; 0 || nota &gt; 20)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System.out.println("  Valor fuera de rango, intente otra vez");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while (nota &lt; 0 || nota &gt; 20);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System.out.println("Nota registrada: " + nota);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o"/>
          <p:cNvSpPr txBox="1"/>
          <p:nvPr/>
        </p:nvSpPr>
        <p:spPr>
          <a:xfrm>
            <a:off x="8046720" y="1371600"/>
            <a:ext cx="3611880" cy="27432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se evalúa </a:t>
            </a: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</a:t>
            </a: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entradas y para menús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</a:t>
            </a: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después del </a:t>
            </a: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(...)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4617720"/>
            <a:ext cx="3611880" cy="1554480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13816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 una nota entre 0 y 20: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 fuera de rango, intente otra vez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 una nota entre 0 y 20: -3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 fuera de rango, intente otra vez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 una nota entre 0 y 20: 17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registrada: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clases/asset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for: repeticiones conocidas</a:t>
            </a:r>
            <a:endParaRPr lang="en-US" sz="3200" dirty="0"/>
          </a:p>
        </p:txBody>
      </p:sp>
      <p:sp>
        <p:nvSpPr>
          <p:cNvPr id="3" name="codigo_fondo"/>
          <p:cNvSpPr/>
          <p:nvPr/>
        </p:nvSpPr>
        <p:spPr>
          <a:xfrm>
            <a:off x="548640" y="1371600"/>
            <a:ext cx="7315200" cy="3230880"/>
          </a:xfrm>
          <a:prstGeom prst="roundRect">
            <a:avLst>
              <a:gd name="adj" fmla="val 169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583680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731520" y="1508760"/>
            <a:ext cx="69494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for: cuando se conoce el numero de repeticiones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java.util.Locale;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E13_ForTabla {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Locale.setDefault(Locale.US);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capital = 1000.0, tasa = 0.08;   // 8 % anual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System.out.println("Anio   Capital (USD)");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anio = 1; anio &lt;= 5; anio++) {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capital = capital * (1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   + tasa);      // interes compuesto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System.out.printf("%4d%15.2f%n", anio, capital);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o"/>
          <p:cNvSpPr txBox="1"/>
          <p:nvPr/>
        </p:nvSpPr>
        <p:spPr>
          <a:xfrm>
            <a:off x="8046720" y="1371600"/>
            <a:ext cx="3611880" cy="27432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(inicio; condición; actualización)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</a:t>
            </a:r>
            <a:r>
              <a:rPr lang="en-US" sz="1800" dirty="0">
                <a:solidFill>
                  <a:srgbClr val="0D7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existe dentro del for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compuesto: C = C · (1 + i)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4617720"/>
            <a:ext cx="3611880" cy="1554480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13816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   Capital (USD)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1        1080.00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2        1166.40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3        1259.71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4        1360.49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5        1469.33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clases/asset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ciclo uso?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560320"/>
                <a:gridCol w="37490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recomendado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 cuántas veces repetir (n estudiantes, 12 meses)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Inicio, condición y avance en una línea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Repito hasta un valor centinela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que no haya ningún dato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un dato hasta que sea correcto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pedirlo al menos una vez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Menú que se repite hasta elegir «Salir»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menú se muestra al menos una vez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Recorrer cifras de un número (n /= 10)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sé cuántas cifras tiene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clases/assets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rápida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segundos · responde con la letra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¿Cuántas veces se imprime «Hola»?   for (int i = 10; i &gt; 0; i -= 3) System.out.print("Hola");</a:t>
            </a:r>
            <a:endParaRPr lang="en-US" sz="2400" dirty="0"/>
          </a:p>
        </p:txBody>
      </p:sp>
      <p:sp>
        <p:nvSpPr>
          <p:cNvPr id="6" name="tarjeta"/>
          <p:cNvSpPr/>
          <p:nvPr/>
        </p:nvSpPr>
        <p:spPr>
          <a:xfrm>
            <a:off x="548640" y="2880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circulo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arjeta"/>
          <p:cNvSpPr/>
          <p:nvPr/>
        </p:nvSpPr>
        <p:spPr>
          <a:xfrm>
            <a:off x="6217920" y="2880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irculo"/>
          <p:cNvSpPr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8803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arjeta"/>
          <p:cNvSpPr/>
          <p:nvPr/>
        </p:nvSpPr>
        <p:spPr>
          <a:xfrm>
            <a:off x="54864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circulo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805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8" name="tarjeta"/>
          <p:cNvSpPr/>
          <p:nvPr/>
        </p:nvSpPr>
        <p:spPr>
          <a:xfrm>
            <a:off x="621792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circulo"/>
          <p:cNvSpPr/>
          <p:nvPr/>
        </p:nvSpPr>
        <p:spPr>
          <a:xfrm>
            <a:off x="6400800" y="4892040"/>
            <a:ext cx="548640" cy="5486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008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805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0" descr="/home/claude/clases/assets/icons/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en clase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7315200" cy="4800600"/>
          </a:xfrm>
          <a:prstGeom prst="roundRect">
            <a:avLst>
              <a:gd name="adj" fmla="val 1524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circulo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0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(35 min)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con el ciclo más adecuado: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los n primeros números naturales y comparación con la fórmula n(n+1)/2.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de n validando que n ≥ 0 (do-while).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las cifras de un entero y calcula su suma (while con n /= 10).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temperaturas hasta -999 y muestra la mayor, la menor y el promedio.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los múltiplos de 7 entre 1 y 100 y cuántos son.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crecimiento de una población de bacterias que se duplica cada hora: ¿en cuántas horas supera 1 000 000 partiendo de 100?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8138160" y="1371600"/>
            <a:ext cx="3474720" cy="4800600"/>
          </a:xfrm>
          <a:prstGeom prst="roundRect">
            <a:avLst>
              <a:gd name="adj" fmla="val 210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3667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factorial usa long porque 13! ya no cabe en un int (long alcanza hasta 20!). Para el ítem 6: 100 · 2^h &gt; 10^6 → h = 14.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0" descr="/home/claude/clases/assets/icons/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37160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de salida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irte, responde en una hoja o en el aula virtual (3 minutos). No lleva nota: me sirve para saber qué reforzar.</a:t>
            </a:r>
            <a:endParaRPr lang="en-US" sz="1600" dirty="0"/>
          </a:p>
        </p:txBody>
      </p:sp>
      <p:sp>
        <p:nvSpPr>
          <p:cNvPr id="4" name="tarjeta"/>
          <p:cNvSpPr/>
          <p:nvPr/>
        </p:nvSpPr>
        <p:spPr>
          <a:xfrm>
            <a:off x="548640" y="20116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783080" y="2240280"/>
            <a:ext cx="1005840" cy="10058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clases/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4917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aprendí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con tus palabras la idea más importante de hoy.</a:t>
            </a:r>
            <a:endParaRPr lang="en-US" sz="1600" dirty="0"/>
          </a:p>
        </p:txBody>
      </p:sp>
      <p:sp>
        <p:nvSpPr>
          <p:cNvPr id="9" name="tarjeta"/>
          <p:cNvSpPr/>
          <p:nvPr/>
        </p:nvSpPr>
        <p:spPr>
          <a:xfrm>
            <a:off x="4343400" y="20116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577840" y="2240280"/>
            <a:ext cx="1005840" cy="1005840"/>
          </a:xfrm>
          <a:prstGeom prst="ellipse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clases/assets/icons/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4917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 cuesta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no quedó clara? Sé específico.</a:t>
            </a:r>
            <a:endParaRPr lang="en-US" sz="1600" dirty="0"/>
          </a:p>
        </p:txBody>
      </p:sp>
      <p:sp>
        <p:nvSpPr>
          <p:cNvPr id="14" name="tarjeta"/>
          <p:cNvSpPr/>
          <p:nvPr/>
        </p:nvSpPr>
        <p:spPr>
          <a:xfrm>
            <a:off x="8138160" y="20116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DF6F0"/>
          </a:solidFill>
          <a:ln w="12700">
            <a:solidFill>
              <a:srgbClr val="EDF6F0"/>
            </a:solidFill>
            <a:prstDash val="solid"/>
          </a:ln>
          <a:effectLst>
            <a:outerShdw blurRad="50800" dist="1905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372600" y="2240280"/>
            <a:ext cx="1005840" cy="1005840"/>
          </a:xfrm>
          <a:prstGeom prst="ellipse">
            <a:avLst/>
          </a:prstGeom>
          <a:solidFill>
            <a:srgbClr val="0D713D"/>
          </a:solidFill>
          <a:ln w="12700">
            <a:solidFill>
              <a:srgbClr val="0D71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clases/assets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4917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aplico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ejemplo de tu carrera donde usarías lo de hoy.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02920" y="393192"/>
            <a:ext cx="685800" cy="685800"/>
          </a:xfrm>
          <a:prstGeom prst="ellipse">
            <a:avLst/>
          </a:prstGeom>
          <a:solidFill>
            <a:srgbClr val="C73538"/>
          </a:solidFill>
          <a:ln w="127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home/claude/clases/assets/icons/ti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564642"/>
            <a:ext cx="342900" cy="342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la sesión</a:t>
            </a:r>
            <a:endParaRPr lang="en-US" sz="3400" dirty="0"/>
          </a:p>
        </p:txBody>
      </p:sp>
      <p:sp>
        <p:nvSpPr>
          <p:cNvPr id="3" name="texto"/>
          <p:cNvSpPr txBox="1"/>
          <p:nvPr/>
        </p:nvSpPr>
        <p:spPr>
          <a:xfrm>
            <a:off x="548640" y="1463040"/>
            <a:ext cx="6766560" cy="46634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(</a:t>
            </a:r>
            <a:r>
              <a:rPr lang="en-US" sz="20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acumulador (</a:t>
            </a:r>
            <a:r>
              <a:rPr lang="en-US" sz="20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+= x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se inicializan antes del ciclo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0 o más veces · do-while: 1 o más veces · for: número conocido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Centinela para terminar la lectura; do-while para validar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los ciclos infinitos: algo debe cambiar la condición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C735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90956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3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Mañana jueves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228600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</a:t>
            </a:r>
            <a:r>
              <a:rPr lang="en-US" sz="1700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bucles y anidamiento. Además se presenta el </a:t>
            </a:r>
            <a:r>
              <a:rPr lang="en-US" sz="1700" b="1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la Unidad 1</a:t>
            </a:r>
            <a:r>
              <a:rPr lang="en-US" sz="1700" dirty="0">
                <a:solidFill>
                  <a:srgbClr val="0A4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(entrega y defensa el miércoles 4 de noviembre).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1560</Words>
  <Application>Microsoft Office PowerPoint</Application>
  <PresentationFormat>Panorámica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Presentación de PowerPoint</vt:lpstr>
      <vt:lpstr>Agenda de la sesión</vt:lpstr>
      <vt:lpstr>Objetivo de la clase</vt:lpstr>
      <vt:lpstr>Piezas que aparecen en casi todo ciclo</vt:lpstr>
      <vt:lpstr>Una analogía para entenderlo</vt:lpstr>
      <vt:lpstr>while: mientras la condición sea verdadera</vt:lpstr>
      <vt:lpstr>do-while: al menos una vez</vt:lpstr>
      <vt:lpstr>for: repeticiones conocidas</vt:lpstr>
      <vt:lpstr>¿Cuál ciclo uso?</vt:lpstr>
      <vt:lpstr>Pregunta rápida</vt:lpstr>
      <vt:lpstr>Ejercicio en clase</vt:lpstr>
      <vt:lpstr>Ticket de salida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S05 Repetitivas</dc:title>
  <dc:subject>PptxGenJS Presentation</dc:subject>
  <dc:creator>Mgtr. Esteban Gonzabay Jiménez</dc:creator>
  <cp:lastModifiedBy>Cuenta Microsoft</cp:lastModifiedBy>
  <cp:revision>1</cp:revision>
  <dcterms:created xsi:type="dcterms:W3CDTF">2026-10-19T02:53:54Z</dcterms:created>
  <dcterms:modified xsi:type="dcterms:W3CDTF">2026-10-30T05:55:58Z</dcterms:modified>
</cp:coreProperties>
</file>